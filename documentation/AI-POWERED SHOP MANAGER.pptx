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92" r:id="rId5"/>
    <p:sldId id="299" r:id="rId6"/>
    <p:sldId id="261" r:id="rId7"/>
    <p:sldId id="279" r:id="rId8"/>
    <p:sldId id="276" r:id="rId9"/>
    <p:sldId id="293" r:id="rId10"/>
    <p:sldId id="301" r:id="rId11"/>
    <p:sldId id="28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839" autoAdjust="0"/>
  </p:normalViewPr>
  <p:slideViewPr>
    <p:cSldViewPr snapToGrid="0" showGuides="1">
      <p:cViewPr varScale="1">
        <p:scale>
          <a:sx n="71" d="100"/>
          <a:sy n="71" d="100"/>
        </p:scale>
        <p:origin x="696" y="54"/>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A</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Python</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B</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dirty="0">
              <a:latin typeface="+mn-lt"/>
            </a:rPr>
            <a:t>Custom</a:t>
          </a:r>
          <a:r>
            <a:rPr lang="en-US" sz="1800" baseline="0" dirty="0">
              <a:latin typeface="+mn-lt"/>
            </a:rPr>
            <a:t> </a:t>
          </a:r>
          <a:r>
            <a:rPr lang="en-US" sz="1800" baseline="0" dirty="0" err="1">
              <a:latin typeface="+mn-lt"/>
            </a:rPr>
            <a:t>Tkinter</a:t>
          </a:r>
          <a:endParaRPr lang="en-US" sz="180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C</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Random Forest Model</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D</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err="1">
              <a:latin typeface="+mn-lt"/>
            </a:rPr>
            <a:t>MySql</a:t>
          </a:r>
          <a:endParaRPr lang="en-US" sz="1800" dirty="0">
            <a:latin typeface="+mn-lt"/>
          </a:endParaRP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A</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Python</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B</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Custom</a:t>
          </a:r>
          <a:r>
            <a:rPr lang="en-US" sz="1800" kern="1200" baseline="0" dirty="0">
              <a:latin typeface="+mn-lt"/>
            </a:rPr>
            <a:t> </a:t>
          </a:r>
          <a:r>
            <a:rPr lang="en-US" sz="1800" kern="1200" baseline="0" dirty="0" err="1">
              <a:latin typeface="+mn-lt"/>
            </a:rPr>
            <a:t>Tkinter</a:t>
          </a:r>
          <a:endParaRPr lang="en-US" sz="1800" kern="1200" dirty="0">
            <a:latin typeface="+mn-lt"/>
          </a:endParaRP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C</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Random Forest Model</a:t>
          </a:r>
        </a:p>
      </dsp:txBody>
      <dsp:txXfrm>
        <a:off x="3566271" y="558042"/>
        <a:ext cx="2982302" cy="580810"/>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D</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err="1">
              <a:latin typeface="+mn-lt"/>
            </a:rPr>
            <a:t>MySql</a:t>
          </a:r>
          <a:endParaRPr lang="en-US" sz="1800" kern="1200" dirty="0">
            <a:latin typeface="+mn-lt"/>
          </a:endParaRP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1/20/2025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1/20/2025</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4</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B3641-1505-8EFC-C5E6-ED80180A0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98316-2EF0-25B1-BA5B-68108FF7589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C83B4F6-9421-836B-94E2-F944ABA3D43C}"/>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4E3925A2-3B52-C451-720A-19F0D216913B}"/>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059813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creativecommons.org/licenses/by-nc-nd/3.0/" TargetMode="External"/><Relationship Id="rId4" Type="http://schemas.openxmlformats.org/officeDocument/2006/relationships/hyperlink" Target="https://landbars.wordpress.com/category/new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887506" y="731520"/>
            <a:ext cx="5285986" cy="3291840"/>
          </a:xfrm>
        </p:spPr>
        <p:txBody>
          <a:bodyPr lIns="0" anchor="b" anchorCtr="0"/>
          <a:lstStyle/>
          <a:p>
            <a:r>
              <a:rPr lang="en-US" altLang="zh-CN" dirty="0"/>
              <a:t>AI-POWERED SHOP MANAGER</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1516022"/>
          </a:xfrm>
        </p:spPr>
        <p:txBody>
          <a:bodyPr/>
          <a:lstStyle/>
          <a:p>
            <a:pPr marL="342900" indent="-342900">
              <a:buFont typeface="Arial" panose="020B0604020202020204" pitchFamily="34" charset="0"/>
              <a:buChar char="•"/>
            </a:pPr>
            <a:r>
              <a:rPr lang="en-US" dirty="0"/>
              <a:t>MUHAMMAD ABDULLAH (TEAM LEAD)</a:t>
            </a:r>
          </a:p>
          <a:p>
            <a:pPr marL="342900" indent="-342900">
              <a:buFont typeface="Arial" panose="020B0604020202020204" pitchFamily="34" charset="0"/>
              <a:buChar char="•"/>
            </a:pPr>
            <a:r>
              <a:rPr lang="en-US" dirty="0"/>
              <a:t>AHMED MALIK (MANAGER)</a:t>
            </a:r>
          </a:p>
          <a:p>
            <a:pPr marL="342900" indent="-342900">
              <a:buFont typeface="Arial" panose="020B0604020202020204" pitchFamily="34" charset="0"/>
              <a:buChar char="•"/>
            </a:pPr>
            <a:r>
              <a:rPr lang="en-US" dirty="0"/>
              <a:t>ZEESHAN ABBAS (DEVELOPER)</a:t>
            </a:r>
          </a:p>
          <a:p>
            <a:endParaRPr lang="en-US" dirty="0"/>
          </a:p>
        </p:txBody>
      </p:sp>
      <p:pic>
        <p:nvPicPr>
          <p:cNvPr id="20" name="Picture Placeholder 19" descr="3D face graphic">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2826" r="22826"/>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a:bodyPr>
          <a:lstStyle/>
          <a:p>
            <a:r>
              <a:rPr lang="en-US" dirty="0"/>
              <a:t>Problem Definition</a:t>
            </a:r>
          </a:p>
          <a:p>
            <a:r>
              <a:rPr lang="en-US" dirty="0"/>
              <a:t>Tools and Technologies</a:t>
            </a:r>
          </a:p>
          <a:p>
            <a:r>
              <a:rPr lang="en-US" dirty="0"/>
              <a:t>Requirements Engineering</a:t>
            </a:r>
          </a:p>
          <a:p>
            <a:r>
              <a:rPr lang="en-US" dirty="0"/>
              <a:t>Software Requirements Specifications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PROBLEM DEFINATION</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3</a:t>
            </a:fld>
            <a:endParaRPr lang="en-US" dirty="0"/>
          </a:p>
        </p:txBody>
      </p:sp>
      <p:sp>
        <p:nvSpPr>
          <p:cNvPr id="5" name="Rectangle 1">
            <a:extLst>
              <a:ext uri="{FF2B5EF4-FFF2-40B4-BE49-F238E27FC236}">
                <a16:creationId xmlns:a16="http://schemas.microsoft.com/office/drawing/2014/main" id="{C5E61222-0F11-37AD-E2D5-5141528BA72F}"/>
              </a:ext>
            </a:extLst>
          </p:cNvPr>
          <p:cNvSpPr>
            <a:spLocks noGrp="1" noChangeArrowheads="1"/>
          </p:cNvSpPr>
          <p:nvPr>
            <p:ph idx="1"/>
          </p:nvPr>
        </p:nvSpPr>
        <p:spPr bwMode="auto">
          <a:xfrm>
            <a:off x="5486400" y="1891519"/>
            <a:ext cx="627419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effectLst/>
                <a:latin typeface="Arial" panose="020B0604020202020204" pitchFamily="34" charset="0"/>
              </a:rPr>
              <a:t>Problem Statement</a:t>
            </a:r>
            <a:r>
              <a:rPr kumimoji="0" lang="en-US" altLang="en-US" sz="2000" b="0" i="0" u="none" strike="noStrike" cap="none" normalizeH="0" baseline="0" dirty="0">
                <a:ln>
                  <a:noFill/>
                </a:ln>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Efficient management of products, sales, and customer data is critical for small and medium-sized retail businesses.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Difficulty in tracking sales, predicting future sales trends,     and managing customer data securely.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effectLst/>
                <a:latin typeface="Arial" panose="020B0604020202020204" pitchFamily="34" charset="0"/>
              </a:rPr>
              <a:t>Objective</a:t>
            </a:r>
            <a:r>
              <a:rPr kumimoji="0" lang="en-US" altLang="en-US" sz="20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effectLst/>
                <a:latin typeface="Arial" panose="020B0604020202020204" pitchFamily="34" charset="0"/>
              </a:rPr>
              <a:t>Develop a tool that simplifies these management processes using AI and secure data handling.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TECHNOLOGIES</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852160" y="731520"/>
            <a:ext cx="5486400" cy="1737360"/>
          </a:xfrm>
        </p:spPr>
        <p:txBody>
          <a:bodyPr/>
          <a:lstStyle/>
          <a:p>
            <a:r>
              <a:rPr lang="en-US" dirty="0"/>
              <a:t>Python as main programming language</a:t>
            </a:r>
          </a:p>
          <a:p>
            <a:r>
              <a:rPr lang="en-US" dirty="0" err="1"/>
              <a:t>MySql</a:t>
            </a:r>
            <a:r>
              <a:rPr lang="en-US" dirty="0"/>
              <a:t> Database</a:t>
            </a:r>
          </a:p>
          <a:p>
            <a:r>
              <a:rPr lang="en-US" dirty="0"/>
              <a:t>Random Forest for AI Models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2891168648"/>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4</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1" y="438160"/>
            <a:ext cx="3931920" cy="1230923"/>
          </a:xfrm>
        </p:spPr>
        <p:txBody>
          <a:bodyPr anchor="b" anchorCtr="0"/>
          <a:lstStyle/>
          <a:p>
            <a:r>
              <a:rPr lang="en-US" altLang="zh-CN" dirty="0"/>
              <a:t>Requirements Engineering</a:t>
            </a:r>
            <a:endParaRPr lang="en-US" dirty="0"/>
          </a:p>
        </p:txBody>
      </p:sp>
      <p:pic>
        <p:nvPicPr>
          <p:cNvPr id="12" name="Picture Placeholder 11">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a:blip r:embed="rId3">
            <a:extLst>
              <a:ext uri="{837473B0-CC2E-450A-ABE3-18F120FF3D39}">
                <a1611:picAttrSrcUrl xmlns:a1611="http://schemas.microsoft.com/office/drawing/2016/11/main" r:id="rId4"/>
              </a:ext>
            </a:extLst>
          </a:blip>
          <a:srcRect l="24540" r="24540"/>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5</a:t>
            </a:fld>
            <a:endParaRPr lang="en-US" altLang="zh-CN" noProof="0" dirty="0"/>
          </a:p>
        </p:txBody>
      </p:sp>
      <p:sp>
        <p:nvSpPr>
          <p:cNvPr id="3" name="TextBox 2">
            <a:extLst>
              <a:ext uri="{FF2B5EF4-FFF2-40B4-BE49-F238E27FC236}">
                <a16:creationId xmlns:a16="http://schemas.microsoft.com/office/drawing/2014/main" id="{498F0E3C-2EED-66E9-24B2-6980FE4825AF}"/>
              </a:ext>
            </a:extLst>
          </p:cNvPr>
          <p:cNvSpPr txBox="1"/>
          <p:nvPr/>
        </p:nvSpPr>
        <p:spPr>
          <a:xfrm>
            <a:off x="5745002" y="6858000"/>
            <a:ext cx="6446999" cy="230832"/>
          </a:xfrm>
          <a:prstGeom prst="rect">
            <a:avLst/>
          </a:prstGeom>
        </p:spPr>
        <p:txBody>
          <a:bodyPr wrap="square" rtlCol="0">
            <a:spAutoFit/>
          </a:bodyPr>
          <a:lstStyle/>
          <a:p>
            <a:r>
              <a:rPr lang="en-US" sz="900">
                <a:hlinkClick r:id="rId4" tooltip="https://landbars.wordpress.com/category/news/"/>
              </a:rPr>
              <a:t>This Photo</a:t>
            </a:r>
            <a:r>
              <a:rPr lang="en-US" sz="900"/>
              <a:t> by Unknown Author is licensed under </a:t>
            </a:r>
            <a:r>
              <a:rPr lang="en-US" sz="900">
                <a:hlinkClick r:id="rId5" tooltip="https://creativecommons.org/licenses/by-nc-nd/3.0/"/>
              </a:rPr>
              <a:t>CC BY-NC-ND</a:t>
            </a:r>
            <a:endParaRPr lang="en-US" sz="900"/>
          </a:p>
        </p:txBody>
      </p:sp>
      <p:sp>
        <p:nvSpPr>
          <p:cNvPr id="6" name="Rectangle 2">
            <a:extLst>
              <a:ext uri="{FF2B5EF4-FFF2-40B4-BE49-F238E27FC236}">
                <a16:creationId xmlns:a16="http://schemas.microsoft.com/office/drawing/2014/main" id="{4BAF938F-D854-40F2-C909-BC7B3A4646FC}"/>
              </a:ext>
            </a:extLst>
          </p:cNvPr>
          <p:cNvSpPr>
            <a:spLocks noGrp="1" noChangeArrowheads="1"/>
          </p:cNvSpPr>
          <p:nvPr>
            <p:ph idx="1"/>
          </p:nvPr>
        </p:nvSpPr>
        <p:spPr bwMode="auto">
          <a:xfrm>
            <a:off x="539239" y="2367193"/>
            <a:ext cx="5101906" cy="4134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Gathering</a:t>
            </a:r>
            <a:r>
              <a:rPr kumimoji="0" lang="en-US" altLang="en-US" sz="1800" b="0" i="0" u="none" strike="noStrike" cap="none" normalizeH="0" baseline="0" dirty="0">
                <a:ln>
                  <a:noFill/>
                </a:ln>
                <a:effectLst/>
                <a:latin typeface="Arial" panose="020B0604020202020204" pitchFamily="34" charset="0"/>
              </a:rPr>
              <a:t>:</a:t>
            </a:r>
          </a:p>
          <a:p>
            <a:pPr eaLnBrk="0" fontAlgn="base" hangingPunct="0">
              <a:lnSpc>
                <a:spcPct val="100000"/>
              </a:lnSpc>
              <a:spcBef>
                <a:spcPct val="0"/>
              </a:spcBef>
              <a:spcAft>
                <a:spcPct val="0"/>
              </a:spcAft>
            </a:pPr>
            <a:r>
              <a:rPr kumimoji="0" lang="en-US" altLang="en-US" sz="1800" b="0" i="0" u="none" strike="noStrike" cap="none" normalizeH="0" baseline="0" dirty="0">
                <a:ln>
                  <a:noFill/>
                </a:ln>
                <a:effectLst/>
                <a:latin typeface="Arial" panose="020B0604020202020204" pitchFamily="34" charset="0"/>
              </a:rPr>
              <a:t>Identified functional and non-functional requirements (e.g., sales management, product management, security).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effectLst/>
                <a:latin typeface="Arial" panose="020B0604020202020204" pitchFamily="34" charset="0"/>
              </a:rPr>
              <a:t>Analysis</a:t>
            </a:r>
            <a:r>
              <a:rPr kumimoji="0" lang="en-US" altLang="en-US" sz="1800" b="0" i="0" u="none" strike="noStrike" cap="none" normalizeH="0" baseline="0" dirty="0">
                <a:ln>
                  <a:noFill/>
                </a:ln>
                <a:effectLst/>
                <a:latin typeface="Arial" panose="020B0604020202020204" pitchFamily="34" charset="0"/>
              </a:rPr>
              <a:t>:</a:t>
            </a:r>
          </a:p>
          <a:p>
            <a:pPr eaLnBrk="0" fontAlgn="base" hangingPunct="0">
              <a:lnSpc>
                <a:spcPct val="100000"/>
              </a:lnSpc>
              <a:spcBef>
                <a:spcPct val="0"/>
              </a:spcBef>
              <a:spcAft>
                <a:spcPct val="0"/>
              </a:spcAft>
            </a:pPr>
            <a:r>
              <a:rPr kumimoji="0" lang="en-US" altLang="en-US" sz="1800" b="0" i="0" u="none" strike="noStrike" cap="none" normalizeH="0" baseline="0" dirty="0">
                <a:ln>
                  <a:noFill/>
                </a:ln>
                <a:effectLst/>
                <a:latin typeface="Arial" panose="020B0604020202020204" pitchFamily="34" charset="0"/>
              </a:rPr>
              <a:t>Breaking down the system into modules: Product Management, Sales Management, Customer Management, and AI-based Sales Prediction.</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en-US" altLang="en-US" sz="1800" b="1" i="0" u="none" strike="noStrike" cap="none" normalizeH="0" baseline="0" dirty="0">
                <a:ln>
                  <a:noFill/>
                </a:ln>
                <a:effectLst/>
                <a:latin typeface="Arial" panose="020B0604020202020204" pitchFamily="34" charset="0"/>
              </a:rPr>
              <a:t>Validation</a:t>
            </a:r>
            <a:r>
              <a:rPr kumimoji="0" lang="en-US" altLang="en-US" sz="1800" b="0" i="0" u="none" strike="noStrike" cap="none" normalizeH="0" baseline="0" dirty="0">
                <a:ln>
                  <a:noFill/>
                </a:ln>
                <a:effectLst/>
                <a:latin typeface="Arial" panose="020B0604020202020204" pitchFamily="34" charset="0"/>
              </a:rPr>
              <a:t>:</a:t>
            </a:r>
          </a:p>
          <a:p>
            <a:r>
              <a:rPr lang="en-US" dirty="0">
                <a:latin typeface="Arial" panose="020B0604020202020204" pitchFamily="34" charset="0"/>
                <a:cs typeface="Arial" panose="020B0604020202020204" pitchFamily="34" charset="0"/>
              </a:rPr>
              <a:t>Verification of requirements .</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7755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Software Requirements Specifications(SRS)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6</a:t>
            </a:fld>
            <a:endParaRPr lang="en-US" altLang="zh-CN" noProof="0" dirty="0"/>
          </a:p>
        </p:txBody>
      </p:sp>
      <p:sp>
        <p:nvSpPr>
          <p:cNvPr id="4" name="Rectangle 2">
            <a:extLst>
              <a:ext uri="{FF2B5EF4-FFF2-40B4-BE49-F238E27FC236}">
                <a16:creationId xmlns:a16="http://schemas.microsoft.com/office/drawing/2014/main" id="{CE7A65F9-D1CB-894A-B344-04D2E39E2D0F}"/>
              </a:ext>
            </a:extLst>
          </p:cNvPr>
          <p:cNvSpPr>
            <a:spLocks noGrp="1" noChangeArrowheads="1"/>
          </p:cNvSpPr>
          <p:nvPr>
            <p:ph idx="1"/>
          </p:nvPr>
        </p:nvSpPr>
        <p:spPr bwMode="auto">
          <a:xfrm>
            <a:off x="914400" y="3003521"/>
            <a:ext cx="620385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effectLst/>
                <a:latin typeface="Arial" panose="020B0604020202020204" pitchFamily="34" charset="0"/>
              </a:rPr>
              <a:t>Functional Requirements</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Product Management: Add, view, update, delete products.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Sales Management: View and analyze sales data (daily, weekly, monthly).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Customer Management: Manage customer data securely.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effectLst/>
                <a:latin typeface="Arial" panose="020B0604020202020204" pitchFamily="34" charset="0"/>
              </a:rPr>
              <a:t>Prediction: Predict future sales using machine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4182148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4D705-4504-C583-42A0-1085F8AFF624}"/>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C55A22F-C7EC-59BB-CDDE-0CAB0518DE08}"/>
              </a:ext>
            </a:extLst>
          </p:cNvPr>
          <p:cNvSpPr>
            <a:spLocks noGrp="1"/>
          </p:cNvSpPr>
          <p:nvPr>
            <p:ph type="title"/>
          </p:nvPr>
        </p:nvSpPr>
        <p:spPr>
          <a:xfrm>
            <a:off x="914400" y="1060704"/>
            <a:ext cx="7132320" cy="1773936"/>
          </a:xfrm>
        </p:spPr>
        <p:txBody>
          <a:bodyPr/>
          <a:lstStyle/>
          <a:p>
            <a:r>
              <a:rPr lang="en-US" dirty="0"/>
              <a:t>Software Requirements Specifications(SRS)</a:t>
            </a:r>
          </a:p>
        </p:txBody>
      </p:sp>
      <p:sp>
        <p:nvSpPr>
          <p:cNvPr id="11" name="Slide Number Placeholder 13">
            <a:extLst>
              <a:ext uri="{FF2B5EF4-FFF2-40B4-BE49-F238E27FC236}">
                <a16:creationId xmlns:a16="http://schemas.microsoft.com/office/drawing/2014/main" id="{29F729E3-75C6-7616-02F9-0A3328FD111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45B4EA3-64B3-086A-487B-6CA3EEC560C9}"/>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
        <p:nvSpPr>
          <p:cNvPr id="4" name="Rectangle 2">
            <a:extLst>
              <a:ext uri="{FF2B5EF4-FFF2-40B4-BE49-F238E27FC236}">
                <a16:creationId xmlns:a16="http://schemas.microsoft.com/office/drawing/2014/main" id="{4FF6AE2B-BA4B-77B5-AE72-61768BF6F9DA}"/>
              </a:ext>
            </a:extLst>
          </p:cNvPr>
          <p:cNvSpPr>
            <a:spLocks noGrp="1" noChangeArrowheads="1"/>
          </p:cNvSpPr>
          <p:nvPr>
            <p:ph idx="1"/>
          </p:nvPr>
        </p:nvSpPr>
        <p:spPr bwMode="auto">
          <a:xfrm>
            <a:off x="914400" y="3242048"/>
            <a:ext cx="6203852" cy="238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Non-Functional Requirements</a:t>
            </a:r>
            <a:r>
              <a:rPr lang="en-US" dirty="0"/>
              <a:t>:</a:t>
            </a:r>
          </a:p>
          <a:p>
            <a:endParaRPr lang="en-US" dirty="0"/>
          </a:p>
          <a:p>
            <a:pPr marL="342900" indent="-342900">
              <a:buFont typeface="+mj-lt"/>
              <a:buAutoNum type="arabicPeriod"/>
            </a:pPr>
            <a:r>
              <a:rPr lang="en-US" dirty="0"/>
              <a:t>Secure data storage using encryption techniques.</a:t>
            </a:r>
          </a:p>
          <a:p>
            <a:pPr marL="342900" indent="-342900">
              <a:buFont typeface="+mj-lt"/>
              <a:buAutoNum type="arabicPeriod"/>
            </a:pPr>
            <a:r>
              <a:rPr lang="en-US" dirty="0"/>
              <a:t>Scalable and modular design.</a:t>
            </a:r>
          </a:p>
          <a:p>
            <a:pPr marL="342900" indent="-342900">
              <a:buFont typeface="+mj-lt"/>
              <a:buAutoNum type="arabicPeriod"/>
            </a:pPr>
            <a:r>
              <a:rPr lang="en-US" dirty="0"/>
              <a:t>User-friendly GUI with clear navigation.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04139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40</TotalTime>
  <Words>271</Words>
  <Application>Microsoft Office PowerPoint</Application>
  <PresentationFormat>Widescreen</PresentationFormat>
  <Paragraphs>69</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等线</vt:lpstr>
      <vt:lpstr>Abadi</vt:lpstr>
      <vt:lpstr>Arial</vt:lpstr>
      <vt:lpstr>Calibri</vt:lpstr>
      <vt:lpstr>Posterama</vt:lpstr>
      <vt:lpstr>Posterama Text SemiBold</vt:lpstr>
      <vt:lpstr>Custom</vt:lpstr>
      <vt:lpstr>AI-POWERED SHOP MANAGER</vt:lpstr>
      <vt:lpstr>Agenda </vt:lpstr>
      <vt:lpstr>PROBLEM DEFINATION</vt:lpstr>
      <vt:lpstr>TECHNOLOGIES</vt:lpstr>
      <vt:lpstr>Requirements Engineering</vt:lpstr>
      <vt:lpstr>Software Requirements Specifications(SRS)</vt:lpstr>
      <vt:lpstr>Software Requirements Specifications(SRS)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23-arid-615</dc:creator>
  <cp:lastModifiedBy>23-arid-615</cp:lastModifiedBy>
  <cp:revision>16</cp:revision>
  <dcterms:created xsi:type="dcterms:W3CDTF">2025-01-20T16:50:10Z</dcterms:created>
  <dcterms:modified xsi:type="dcterms:W3CDTF">2025-01-20T17:30:47Z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